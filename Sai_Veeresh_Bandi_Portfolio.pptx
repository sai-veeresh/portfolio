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11535" y="5577840"/>
            <a:ext cx="2560320" cy="2560320"/>
          </a:xfrm>
          <a:prstGeom prst="ellipse">
            <a:avLst/>
          </a:prstGeom>
          <a:ln w="15875">
            <a:solidFill>
              <a:srgbClr val="1C3F5F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08615" y="5074920"/>
            <a:ext cx="3566160" cy="3566160"/>
          </a:xfrm>
          <a:prstGeom prst="ellipse">
            <a:avLst/>
          </a:prstGeom>
          <a:ln w="15875">
            <a:solidFill>
              <a:srgbClr val="1C3F5F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ln w="15875">
            <a:solidFill>
              <a:srgbClr val="1C3F5F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02775" y="4069080"/>
            <a:ext cx="5577840" cy="5577840"/>
          </a:xfrm>
          <a:prstGeom prst="ellipse">
            <a:avLst/>
          </a:prstGeom>
          <a:ln w="15875">
            <a:solidFill>
              <a:srgbClr val="1C3F5F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99855" y="3566160"/>
            <a:ext cx="6583680" cy="6583680"/>
          </a:xfrm>
          <a:prstGeom prst="ellipse">
            <a:avLst/>
          </a:prstGeom>
          <a:ln w="15875">
            <a:solidFill>
              <a:srgbClr val="1C3F5F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1554480" cy="292608"/>
          </a:xfrm>
          <a:prstGeom prst="roundRect">
            <a:avLst>
              <a:gd name="adj" fmla="val 50000"/>
            </a:avLst>
          </a:prstGeom>
          <a:ln w="15875">
            <a:solidFill>
              <a:srgbClr val="FF6A3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828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ENGINEERING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 VEERESH BANDI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00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100" kern="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ENGINEER  —  COMPRESSIBLE &amp; HYPERSONIC FLOWS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03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 2–20  ·  ANSYS Fluent  ·  OpenFOAM  ·  Shock &amp; Expansion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6080760"/>
            <a:ext cx="73152" cy="73152"/>
          </a:xfrm>
          <a:prstGeom prst="ellipse">
            <a:avLst/>
          </a:prstGeom>
          <a:solidFill>
            <a:srgbClr val="FF6A3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24128" y="5897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linkedin.com/in/veeresh-bandi-43b555211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6080760"/>
            <a:ext cx="73152" cy="73152"/>
          </a:xfrm>
          <a:prstGeom prst="ellipse">
            <a:avLst/>
          </a:prstGeom>
          <a:solidFill>
            <a:srgbClr val="FF6A3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64608" y="5897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github.com/sai-veeresh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0" y="6080760"/>
            <a:ext cx="73152" cy="73152"/>
          </a:xfrm>
          <a:prstGeom prst="ellipse">
            <a:avLst/>
          </a:prstGeom>
          <a:solidFill>
            <a:srgbClr val="FF6A3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82128" y="5897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Delhi, India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6A3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at the edge of high-speed flow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6492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specialize in compressible and hypersonic flows (Mach 2–20), where shock waves, expansions and thermal effects dominate. Trained through Flow ThermoLabs' advanced CFD program, I build stable, physically accurate simulations in ANSYS Fluent and OpenFOAM — with an emphasis on solver strategy, high-quality meshing, turbulence modeling and rigorous validation against published data.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1C3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propulsion and ambitious aerospace systems — from deep-space exploration to fast-iterating launch startups — I thrive on curiosity in the details, and always validating.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635240" y="1874520"/>
            <a:ext cx="3703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3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863840" y="1965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A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 2–20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24963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Compressible → hypersonic regimes simulated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35240" y="3200400"/>
            <a:ext cx="3703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3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3291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A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38221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CFD case studies, mesh-to-validation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35240" y="4526280"/>
            <a:ext cx="3703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3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863840" y="4617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A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&lt;0.1%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51480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Mass-imbalance achieved on converged solutions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6A3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97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Tools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3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286000"/>
            <a:ext cx="411480" cy="54864"/>
          </a:xfrm>
          <a:prstGeom prst="rect">
            <a:avLst/>
          </a:prstGeom>
          <a:solidFill>
            <a:srgbClr val="FF6A3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4048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CFD &amp; Physics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926080"/>
            <a:ext cx="2788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Compressible &amp; hypersonic flows (Mach 2–20)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wave &amp; expansion analysis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layer behavior, high-speed regimes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Turbulence modeling (k-ω SST)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transport &amp; reacting flows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96596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3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286000"/>
            <a:ext cx="411480" cy="54864"/>
          </a:xfrm>
          <a:prstGeom prst="rect">
            <a:avLst/>
          </a:prstGeom>
          <a:solidFill>
            <a:srgbClr val="FF6A3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24048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Methods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926080"/>
            <a:ext cx="2788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&amp; pressure-based solvers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AUSM schemes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&amp; domain independence studies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&amp; residual analysis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96596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E33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58200" y="2286000"/>
            <a:ext cx="411480" cy="54864"/>
          </a:xfrm>
          <a:prstGeom prst="rect">
            <a:avLst/>
          </a:prstGeom>
          <a:solidFill>
            <a:srgbClr val="FF6A3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58200" y="24048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2926080"/>
            <a:ext cx="2788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ANSYS Fluent · OpenFOAM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· Python (post-processing)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· CATIA · HyperMesh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6A3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97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Experience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51560" y="2148840"/>
            <a:ext cx="0" cy="3794760"/>
          </a:xfrm>
          <a:prstGeom prst="line">
            <a:avLst/>
          </a:prstGeom>
          <a:noFill/>
          <a:ln w="25400">
            <a:solidFill>
              <a:srgbClr val="DC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2157984"/>
            <a:ext cx="219456" cy="219456"/>
          </a:xfrm>
          <a:prstGeom prst="ellipse">
            <a:avLst/>
          </a:prstGeom>
          <a:solidFill>
            <a:srgbClr val="FF6A3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0299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Engineer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774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HRBL Group  ·  Nov 2024 – Present  ·  Delhi, India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724912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&amp; analyzed EV chassis, battery housings, cooling systems and structural mounts (SolidWorks, CATIA)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structural, modal, thermal &amp; CFD-driven analyses in ANSYS to optimize durability and cooling efficiency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CFD thermal simulations for battery/motor cooling; reverse-engineered legacy designs to cut cost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multiphysics (structural + thermal + fluid) validation against performance &amp; safety standards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4489704"/>
            <a:ext cx="219456" cy="219456"/>
          </a:xfrm>
          <a:prstGeom prst="ellipse">
            <a:avLst/>
          </a:prstGeom>
          <a:solidFill>
            <a:srgbClr val="FF6A3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43616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Development Intern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70916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Lab  ·  Sep – Oct 2024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5056632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aerodynamic CFD analysis on subsonic aircraft wing geometries in ANSYS Fluent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lift/drag coefficients; refined meshes and boundary conditions for accurate force prediction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6A3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669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058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Aerospike Nozzle — Expansion Behavior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8132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axisymmetric · Density-based solver · k-ω SST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9808" y="1892808"/>
            <a:ext cx="4855464" cy="2059578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0" dist="38100" dir="5400000">
              <a:srgbClr val="0B1E33">
                <a:alpha val="18000"/>
              </a:srgbClr>
            </a:outerShdw>
          </a:effectLst>
        </p:spPr>
      </p:sp>
      <p:pic>
        <p:nvPicPr>
          <p:cNvPr id="7" name="Image 0" descr="/home/claude/portfolio/images/img-007-0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4709160" cy="191327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126480" y="1828800"/>
            <a:ext cx="52422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 modified 2D axisymmetric aerospike to study exit-plume expansion under compressible flow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Nozzle relations sized the geometry before mesh generation and CFD analysis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Mesh-convergence study across coarse / medium / fine grids (25k → 486k elements) to confirm solution independence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3611880"/>
            <a:ext cx="5242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Inlet: 15.2 bar, 1180 K  ·  Outlet: 101,325 Pa  ·  Ideal-gas air, Sutherland viscosity  ·  Fine mesh: 486k elements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2960" y="5806440"/>
            <a:ext cx="10545775" cy="685800"/>
          </a:xfrm>
          <a:prstGeom prst="roundRect">
            <a:avLst>
              <a:gd name="adj" fmla="val 8000"/>
            </a:avLst>
          </a:prstGeom>
          <a:solidFill>
            <a:srgbClr val="0B1E3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51560" y="58064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show clear shock-diamond formation from the exit pressure imbalance, with Mach number converging from 2.67 (coarse) to 3.90 (fine mesh) — confirming grid-independent capture of the periodic expansion/recompression structure.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6A3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669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058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Rotating Cylinder in Mach 6 Flow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8132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· Density-based, explicit AUSM · k-ω SST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6423" y="1892808"/>
            <a:ext cx="4855464" cy="2274680"/>
          </a:xfrm>
          <a:prstGeom prst="roundRect">
            <a:avLst>
              <a:gd name="adj" fmla="val 241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0" dist="38100" dir="5400000">
              <a:srgbClr val="0B1E33">
                <a:alpha val="18000"/>
              </a:srgbClr>
            </a:outerShdw>
          </a:effectLst>
        </p:spPr>
      </p:sp>
      <p:pic>
        <p:nvPicPr>
          <p:cNvPr id="7" name="Image 0" descr="/home/claude/portfolio/images/img-018-0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9575" y="1965960"/>
            <a:ext cx="4709160" cy="21283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1828800"/>
            <a:ext cx="52422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mm cylinder spinning at 1,074 rad/s in Mach 6 freestream, to study rotation–shock coupling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Quad-dominant mesh with 20 inflation layers (0.05 mm first cell) to resolve the boundary layer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Transient, first-order implicit formulation to capture the evolving wake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11880"/>
            <a:ext cx="5242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Freestream: 1,951 Pa, 58.25 K, Mach 6.06  ·  34,079 elements  ·  Growth rate 1.2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2960" y="5806440"/>
            <a:ext cx="10545775" cy="685800"/>
          </a:xfrm>
          <a:prstGeom prst="roundRect">
            <a:avLst>
              <a:gd name="adj" fmla="val 8000"/>
            </a:avLst>
          </a:prstGeom>
          <a:solidFill>
            <a:srgbClr val="0B1E3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51560" y="58064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detached bow shock forms ahead of the cylinder, and the high spin rate (1,074 rad/s) breaks flow symmetry — visibly skewing the pressure and velocity distribution around the surface.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6A3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669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058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NASA X-43 Hypersonic Flow Analysis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8132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 7 · Frozen chemistry vs. species transport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9808" y="1892808"/>
            <a:ext cx="4855464" cy="2604026"/>
          </a:xfrm>
          <a:prstGeom prst="roundRect">
            <a:avLst>
              <a:gd name="adj" fmla="val 210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0" dist="38100" dir="5400000">
              <a:srgbClr val="0B1E33">
                <a:alpha val="18000"/>
              </a:srgbClr>
            </a:outerShdw>
          </a:effectLst>
        </p:spPr>
      </p:sp>
      <p:pic>
        <p:nvPicPr>
          <p:cNvPr id="7" name="Image 0" descr="/home/claude/portfolio/images/img-023-0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4709160" cy="24577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126480" y="1828800"/>
            <a:ext cx="52422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sourced from GrabCAD and rebuilt for CFD: mesh prep, domain sizing, symmetry model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frozen-chemistry against multi-species air (N₂, O₂) to capture high-temperature gas effects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9-piecewise polynomial Cp with Sutherland viscosity for accurate thermodynamics at Mach 7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3611880"/>
            <a:ext cx="5242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Freestream: 1,400 Pa, 226 K, Mach 7  ·  ~1.45M cells (polyhedral core + 15-layer prism boundary layer)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5623560"/>
          <a:ext cx="10545775" cy="722376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240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CFD (this work)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Published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5F"/>
                    </a:solidFill>
                  </a:tcPr>
                </a:tc>
              </a:tr>
              <a:tr h="240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22E"/>
                          </a:solidFill>
                        </a:rPr>
                        <a:t>Drag coefficient (Cd)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22E"/>
                          </a:solidFill>
                        </a:rPr>
                        <a:t>0.0166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22E"/>
                          </a:solidFill>
                        </a:rPr>
                        <a:t>0.015 – 0.018 [1,2]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0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22E"/>
                          </a:solidFill>
                        </a:rPr>
                        <a:t>Pressure / viscous drag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22E"/>
                          </a:solidFill>
                        </a:rPr>
                        <a:t>~93% / ~7%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22E"/>
                          </a:solidFill>
                        </a:rPr>
                        <a:t>85–95% / 5–15%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6A3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669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058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SpaceX Dragon Capsule Re-Entry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8132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 20 · Blunt-body hypersonic re-entry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6423" y="1892808"/>
            <a:ext cx="4855464" cy="2274680"/>
          </a:xfrm>
          <a:prstGeom prst="roundRect">
            <a:avLst>
              <a:gd name="adj" fmla="val 241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0" dist="38100" dir="5400000">
              <a:srgbClr val="0B1E33">
                <a:alpha val="18000"/>
              </a:srgbClr>
            </a:outerShdw>
          </a:effectLst>
        </p:spPr>
      </p:sp>
      <p:pic>
        <p:nvPicPr>
          <p:cNvPr id="7" name="Image 0" descr="/home/claude/portfolio/images/img-030-0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9575" y="1965960"/>
            <a:ext cx="4709160" cy="21283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1828800"/>
            <a:ext cx="52422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Blunt-body re-entry geometry (GrabCAD, refined) to study bow-shock standoff and stagnation heating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Laminar, density-based solve with NASA 9-piecewise Cp for high-temperature air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held at 1,000 K to examine the thermal protection boundary condition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11880"/>
            <a:ext cx="5242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Freestream: 50 Pa, 216 K, Mach 20  ·  ~1.6M cells, 15-layer inflation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5623560"/>
          <a:ext cx="10545775" cy="722376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240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CFD (this work)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Published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5F"/>
                    </a:solidFill>
                  </a:tcPr>
                </a:tc>
              </a:tr>
              <a:tr h="240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22E"/>
                          </a:solidFill>
                        </a:rPr>
                        <a:t>Drag coefficient (Cd)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22E"/>
                          </a:solidFill>
                        </a:rPr>
                        <a:t>1.26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22E"/>
                          </a:solidFill>
                        </a:rPr>
                        <a:t>1.23 [3]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0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22E"/>
                          </a:solidFill>
                        </a:rPr>
                        <a:t>Flow physics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22E"/>
                          </a:solidFill>
                        </a:rPr>
                        <a:t>Shock-driven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22E"/>
                          </a:solidFill>
                        </a:rPr>
                        <a:t>Shock-driven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6A3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669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058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LOX / LH₂ Rocket Combustion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8132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Reacting flow · Pressure-based solver · H₂–O₂ species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9808" y="1892808"/>
            <a:ext cx="4855464" cy="281697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27000" dist="38100" dir="5400000">
              <a:srgbClr val="0B1E33">
                <a:alpha val="18000"/>
              </a:srgbClr>
            </a:outerShdw>
          </a:effectLst>
        </p:spPr>
      </p:sp>
      <p:pic>
        <p:nvPicPr>
          <p:cNvPr id="7" name="Image 0" descr="/home/claude/portfolio/images/img-036-0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4709160" cy="267067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126480" y="1828800"/>
            <a:ext cx="52422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LOX/LH₂ mixing and combustion — the propellant pair used in NASA's high-performance engines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species mixing, reaction-zone formation and temperature rise downstream of the injector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Radial-velocity contours reveal alternating vortical structures that enhance turbulent mixing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3611880"/>
            <a:ext cx="5242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H₂: 0.0126 kg/s @ 858 K  ·  O₂: 0.1 kg/s @ 1e6 Pa, 858 K  ·  17,160-element quad mesh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2960" y="5806440"/>
            <a:ext cx="10545775" cy="685800"/>
          </a:xfrm>
          <a:prstGeom prst="roundRect">
            <a:avLst>
              <a:gd name="adj" fmla="val 8000"/>
            </a:avLst>
          </a:prstGeom>
          <a:solidFill>
            <a:srgbClr val="0B1E3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51560" y="58064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H₂–O₂ mixing proved to be the key driver of combustion intensity and temperature rise — underscoring how injector design and flow dynamics govern performance in cryogenic rocket engines.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ln w="15875">
            <a:solidFill>
              <a:srgbClr val="1C3F5F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83080" y="-1783080"/>
            <a:ext cx="3566160" cy="3566160"/>
          </a:xfrm>
          <a:prstGeom prst="ellipse">
            <a:avLst/>
          </a:prstGeom>
          <a:ln w="15875">
            <a:solidFill>
              <a:srgbClr val="1C3F5F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ln w="15875">
            <a:solidFill>
              <a:srgbClr val="1C3F5F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788920" y="-2788920"/>
            <a:ext cx="5577840" cy="5577840"/>
          </a:xfrm>
          <a:prstGeom prst="ellipse">
            <a:avLst/>
          </a:prstGeom>
          <a:ln w="15875">
            <a:solidFill>
              <a:srgbClr val="1C3F5F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3291840" y="-3291840"/>
            <a:ext cx="6583680" cy="6583680"/>
          </a:xfrm>
          <a:prstGeom prst="ellipse">
            <a:avLst/>
          </a:prstGeom>
          <a:ln w="15875">
            <a:solidFill>
              <a:srgbClr val="1C3F5F">
                <a:alpha val="7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188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BUILD SOMETHING FAST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505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B.Tech in Mechanical Engineering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1635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College of Engineering, Narasaraopet — JNTUK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089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– 2020  ·  CGPA 7.69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425696"/>
            <a:ext cx="73152" cy="73152"/>
          </a:xfrm>
          <a:prstGeom prst="ellipse">
            <a:avLst/>
          </a:prstGeom>
          <a:solidFill>
            <a:srgbClr val="FF6A3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43159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— linkedin.com/in/veeresh-bandi-43b555211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809744"/>
            <a:ext cx="73152" cy="73152"/>
          </a:xfrm>
          <a:prstGeom prst="ellipse">
            <a:avLst/>
          </a:prstGeom>
          <a:solidFill>
            <a:srgbClr val="FF6A3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470001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github.com/sai-veeresh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5193792"/>
            <a:ext cx="73152" cy="73152"/>
          </a:xfrm>
          <a:prstGeom prst="ellipse">
            <a:avLst/>
          </a:prstGeom>
          <a:solidFill>
            <a:srgbClr val="FF6A3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" y="508406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in Delhi, India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Navó &amp; Bergadà, “Aerodynamic Study of the NASA X-43A Hypersonic Aircraft,” Appl. Sci., 10(22), 2020.   [2] Davis &amp; White, J. Spacecr. Rockets, 45(3), 2008.   [3] Gonzales et al., IEEE Aerospace Conf., 2014.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2026-09-23T08:32:10Z</dcterms:created>
  <dcterms:modified xsi:type="dcterms:W3CDTF">2026-09-23T08:32:10Z</dcterms:modified>
</cp:coreProperties>
</file>